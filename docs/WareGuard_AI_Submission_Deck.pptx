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media" Target="../media/media1.mp4"/><Relationship Id="rId6" Type="http://schemas.openxmlformats.org/officeDocument/2006/relationships/video" Target="../media/media1.mp4"/><Relationship Id="rId7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73952"/>
            <a:ext cx="11094415" cy="11430"/>
          </a:xfrm>
          <a:prstGeom prst="rect">
            <a:avLst/>
          </a:prstGeom>
          <a:solidFill>
            <a:srgbClr val="1D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20">
                <a:solidFill>
                  <a:srgbClr val="545B69"/>
                </a:solidFill>
                <a:latin typeface="Calibri"/>
              </a:rPr>
              <a:t>WAREGUARD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545B69"/>
                </a:solidFill>
                <a:latin typeface="Calibri"/>
              </a:rPr>
              <a:t>01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417320"/>
            <a:ext cx="121916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 spc="150">
                <a:solidFill>
                  <a:srgbClr val="878F9E"/>
                </a:solidFill>
                <a:latin typeface="Calibri"/>
              </a:rPr>
              <a:t>G E G   A I   V I D E O   I N T E L L I G E N C E   C H A L L E N G E</a:t>
            </a:r>
          </a:p>
        </p:txBody>
      </p:sp>
      <p:sp>
        <p:nvSpPr>
          <p:cNvPr id="7" name="Oval 6"/>
          <p:cNvSpPr/>
          <p:nvPr/>
        </p:nvSpPr>
        <p:spPr>
          <a:xfrm>
            <a:off x="5047488" y="1783080"/>
            <a:ext cx="2103120" cy="2103120"/>
          </a:xfrm>
          <a:prstGeom prst="ellipse">
            <a:avLst/>
          </a:prstGeom>
          <a:noFill/>
          <a:ln w="15875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4648" y="1920240"/>
            <a:ext cx="1828800" cy="1828800"/>
          </a:xfrm>
          <a:prstGeom prst="ellipse">
            <a:avLst/>
          </a:prstGeom>
          <a:solidFill>
            <a:srgbClr val="141D2E"/>
          </a:solidFill>
          <a:ln w="19050">
            <a:solidFill>
              <a:srgbClr val="5B9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200"/>
              <a:t>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023360"/>
            <a:ext cx="1219169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ECEFF4"/>
                </a:solidFill>
                <a:latin typeface="Calibri Light"/>
              </a:rPr>
              <a:t>WareGuard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9104" y="4828032"/>
            <a:ext cx="914400" cy="30480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4956048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5B9BF5"/>
                </a:solidFill>
                <a:latin typeface="Calibri"/>
              </a:rPr>
              <a:t>An AI field intelligence assistant for warehouse loading &amp; unloading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349240"/>
            <a:ext cx="8897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50" b="0" i="0">
                <a:solidFill>
                  <a:srgbClr val="878F9E"/>
                </a:solidFill>
                <a:latin typeface="Calibri"/>
              </a:rPr>
              <a:t>Watches warehouse footage, explains why a handling action is risky, and tells the</a:t>
            </a:r>
          </a:p>
          <a:p>
            <a:pPr algn="ctr">
              <a:lnSpc>
                <a:spcPct val="135000"/>
              </a:lnSpc>
            </a:pPr>
            <a:r>
              <a:rPr sz="1350" b="0" i="0">
                <a:solidFill>
                  <a:srgbClr val="878F9E"/>
                </a:solidFill>
                <a:latin typeface="Calibri"/>
              </a:rPr>
              <a:t>supervisor what to do about it — before the product is damaged, not after.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13048" y="5989320"/>
            <a:ext cx="4572000" cy="777240"/>
          </a:xfrm>
          <a:prstGeom prst="roundRect">
            <a:avLst>
              <a:gd name="adj" fmla="val 150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606247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CEFF4"/>
                </a:solidFill>
                <a:latin typeface="Calibri"/>
              </a:rPr>
              <a:t>Team PixelDock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6327648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78F9E"/>
                </a:solidFill>
                <a:latin typeface="Calibri"/>
              </a:rPr>
              <a:t>Atul Bharadwaj  ·  Sanath M Koushik  ·  Tarun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73952"/>
            <a:ext cx="11094415" cy="11430"/>
          </a:xfrm>
          <a:prstGeom prst="rect">
            <a:avLst/>
          </a:prstGeom>
          <a:solidFill>
            <a:srgbClr val="1D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20">
                <a:solidFill>
                  <a:srgbClr val="545B69"/>
                </a:solidFill>
                <a:latin typeface="Calibri"/>
              </a:rPr>
              <a:t>WAREGUARD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6528816"/>
            <a:ext cx="3776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spc="100">
                <a:solidFill>
                  <a:srgbClr val="545B69"/>
                </a:solidFill>
                <a:latin typeface="Calibri"/>
              </a:rPr>
              <a:t>PROBLEM &amp;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545B69"/>
                </a:solidFill>
                <a:latin typeface="Calibri"/>
              </a:rPr>
              <a:t>02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spc="150">
                <a:solidFill>
                  <a:srgbClr val="5B9BF5"/>
                </a:solidFill>
                <a:latin typeface="Calibri"/>
              </a:rPr>
              <a:t>F R O M   S U R V E I L L A N C E   T O   I N T E L L I G E N C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ECEFF4"/>
                </a:solidFill>
                <a:latin typeface="Calibri Light"/>
              </a:rPr>
              <a:t>Problem, Solution &amp; User Journey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02920" cy="27940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E06B6B"/>
                </a:solidFill>
                <a:latin typeface="Calibri"/>
              </a:rPr>
              <a:t>TRADITIONAL CCTV</a:t>
            </a:r>
          </a:p>
        </p:txBody>
      </p:sp>
      <p:sp>
        <p:nvSpPr>
          <p:cNvPr id="11" name="Chevron 10"/>
          <p:cNvSpPr/>
          <p:nvPr/>
        </p:nvSpPr>
        <p:spPr>
          <a:xfrm>
            <a:off x="548640" y="1947672"/>
            <a:ext cx="2592153" cy="548640"/>
          </a:xfrm>
          <a:prstGeom prst="chevron">
            <a:avLst>
              <a:gd name="adj" fmla="val 55000"/>
            </a:avLst>
          </a:prstGeom>
          <a:solidFill>
            <a:srgbClr val="141D2E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201168">
            <a:noAutofit/>
          </a:bodyPr>
          <a:lstStyle/>
          <a:p>
            <a:pPr algn="ctr"/>
            <a:r>
              <a:rPr sz="1100" b="1">
                <a:solidFill>
                  <a:srgbClr val="ECEFF4"/>
                </a:solidFill>
                <a:latin typeface="Calibri"/>
              </a:rPr>
              <a:t>Camera</a:t>
            </a:r>
          </a:p>
        </p:txBody>
      </p:sp>
      <p:sp>
        <p:nvSpPr>
          <p:cNvPr id="12" name="Chevron 11"/>
          <p:cNvSpPr/>
          <p:nvPr/>
        </p:nvSpPr>
        <p:spPr>
          <a:xfrm>
            <a:off x="2674206" y="1947672"/>
            <a:ext cx="2592153" cy="548640"/>
          </a:xfrm>
          <a:prstGeom prst="chevron">
            <a:avLst>
              <a:gd name="adj" fmla="val 55000"/>
            </a:avLst>
          </a:prstGeom>
          <a:solidFill>
            <a:srgbClr val="12161F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201168">
            <a:noAutofit/>
          </a:bodyPr>
          <a:lstStyle/>
          <a:p>
            <a:pPr algn="ctr"/>
            <a:r>
              <a:rPr sz="1100" b="1">
                <a:solidFill>
                  <a:srgbClr val="ECEFF4"/>
                </a:solidFill>
                <a:latin typeface="Calibri"/>
              </a:rPr>
              <a:t>Recording</a:t>
            </a:r>
          </a:p>
        </p:txBody>
      </p:sp>
      <p:sp>
        <p:nvSpPr>
          <p:cNvPr id="13" name="Chevron 12"/>
          <p:cNvSpPr/>
          <p:nvPr/>
        </p:nvSpPr>
        <p:spPr>
          <a:xfrm>
            <a:off x="4799772" y="1947672"/>
            <a:ext cx="2592153" cy="548640"/>
          </a:xfrm>
          <a:prstGeom prst="chevron">
            <a:avLst>
              <a:gd name="adj" fmla="val 55000"/>
            </a:avLst>
          </a:prstGeom>
          <a:solidFill>
            <a:srgbClr val="141D2E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201168">
            <a:noAutofit/>
          </a:bodyPr>
          <a:lstStyle/>
          <a:p>
            <a:pPr algn="ctr"/>
            <a:r>
              <a:rPr sz="1100" b="1">
                <a:solidFill>
                  <a:srgbClr val="ECEFF4"/>
                </a:solidFill>
                <a:latin typeface="Calibri"/>
              </a:rPr>
              <a:t>Human review</a:t>
            </a:r>
          </a:p>
        </p:txBody>
      </p:sp>
      <p:sp>
        <p:nvSpPr>
          <p:cNvPr id="14" name="Chevron 13"/>
          <p:cNvSpPr/>
          <p:nvPr/>
        </p:nvSpPr>
        <p:spPr>
          <a:xfrm>
            <a:off x="6925338" y="1947672"/>
            <a:ext cx="2592153" cy="548640"/>
          </a:xfrm>
          <a:prstGeom prst="chevron">
            <a:avLst>
              <a:gd name="adj" fmla="val 55000"/>
            </a:avLst>
          </a:prstGeom>
          <a:solidFill>
            <a:srgbClr val="12161F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201168">
            <a:noAutofit/>
          </a:bodyPr>
          <a:lstStyle/>
          <a:p>
            <a:pPr algn="ctr"/>
            <a:r>
              <a:rPr sz="1100" b="1">
                <a:solidFill>
                  <a:srgbClr val="ECEFF4"/>
                </a:solidFill>
                <a:latin typeface="Calibri"/>
              </a:rPr>
              <a:t>Incident discovered</a:t>
            </a:r>
          </a:p>
        </p:txBody>
      </p:sp>
      <p:sp>
        <p:nvSpPr>
          <p:cNvPr id="15" name="Chevron 14"/>
          <p:cNvSpPr/>
          <p:nvPr/>
        </p:nvSpPr>
        <p:spPr>
          <a:xfrm>
            <a:off x="9050904" y="1947672"/>
            <a:ext cx="2592153" cy="548640"/>
          </a:xfrm>
          <a:prstGeom prst="chevron">
            <a:avLst>
              <a:gd name="adj" fmla="val 55000"/>
            </a:avLst>
          </a:prstGeom>
          <a:solidFill>
            <a:srgbClr val="141D2E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201168">
            <a:noAutofit/>
          </a:bodyPr>
          <a:lstStyle/>
          <a:p>
            <a:pPr algn="ctr"/>
            <a:r>
              <a:rPr sz="1100" b="1">
                <a:solidFill>
                  <a:srgbClr val="ECEFF4"/>
                </a:solidFill>
                <a:latin typeface="Calibri"/>
              </a:rPr>
              <a:t>Corrective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974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4CC98E"/>
                </a:solidFill>
                <a:latin typeface="Calibri"/>
              </a:rPr>
              <a:t>WAREGUARD AI</a:t>
            </a:r>
          </a:p>
        </p:txBody>
      </p:sp>
      <p:sp>
        <p:nvSpPr>
          <p:cNvPr id="17" name="Chevron 16"/>
          <p:cNvSpPr/>
          <p:nvPr/>
        </p:nvSpPr>
        <p:spPr>
          <a:xfrm>
            <a:off x="548640" y="2999232"/>
            <a:ext cx="1874056" cy="548640"/>
          </a:xfrm>
          <a:prstGeom prst="chevron">
            <a:avLst>
              <a:gd name="adj" fmla="val 55000"/>
            </a:avLst>
          </a:prstGeom>
          <a:solidFill>
            <a:srgbClr val="141D2E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201168">
            <a:noAutofit/>
          </a:bodyPr>
          <a:lstStyle/>
          <a:p>
            <a:pPr algn="ctr"/>
            <a:r>
              <a:rPr sz="1100" b="1">
                <a:solidFill>
                  <a:srgbClr val="ECEFF4"/>
                </a:solidFill>
                <a:latin typeface="Calibri"/>
              </a:rPr>
              <a:t>Camera</a:t>
            </a:r>
          </a:p>
        </p:txBody>
      </p:sp>
      <p:sp>
        <p:nvSpPr>
          <p:cNvPr id="18" name="Chevron 17"/>
          <p:cNvSpPr/>
          <p:nvPr/>
        </p:nvSpPr>
        <p:spPr>
          <a:xfrm>
            <a:off x="2085366" y="2999232"/>
            <a:ext cx="1874056" cy="548640"/>
          </a:xfrm>
          <a:prstGeom prst="chevron">
            <a:avLst>
              <a:gd name="adj" fmla="val 55000"/>
            </a:avLst>
          </a:prstGeom>
          <a:solidFill>
            <a:srgbClr val="12161F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201168">
            <a:noAutofit/>
          </a:bodyPr>
          <a:lstStyle/>
          <a:p>
            <a:pPr algn="ctr"/>
            <a:r>
              <a:rPr sz="1100" b="1">
                <a:solidFill>
                  <a:srgbClr val="ECEFF4"/>
                </a:solidFill>
                <a:latin typeface="Calibri"/>
              </a:rPr>
              <a:t>AI perception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3622092" y="2999232"/>
            <a:ext cx="1874056" cy="548640"/>
          </a:xfrm>
          <a:prstGeom prst="chevron">
            <a:avLst>
              <a:gd name="adj" fmla="val 55000"/>
            </a:avLst>
          </a:prstGeom>
          <a:solidFill>
            <a:srgbClr val="141D2E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201168">
            <a:noAutofit/>
          </a:bodyPr>
          <a:lstStyle/>
          <a:p>
            <a:pPr algn="ctr"/>
            <a:r>
              <a:rPr sz="1100" b="1">
                <a:solidFill>
                  <a:srgbClr val="ECEFF4"/>
                </a:solidFill>
                <a:latin typeface="Calibri"/>
              </a:rPr>
              <a:t>Behaviour
understanding</a:t>
            </a:r>
          </a:p>
        </p:txBody>
      </p:sp>
      <p:sp>
        <p:nvSpPr>
          <p:cNvPr id="20" name="Chevron 19"/>
          <p:cNvSpPr/>
          <p:nvPr/>
        </p:nvSpPr>
        <p:spPr>
          <a:xfrm>
            <a:off x="5158818" y="2999232"/>
            <a:ext cx="1874056" cy="548640"/>
          </a:xfrm>
          <a:prstGeom prst="chevron">
            <a:avLst>
              <a:gd name="adj" fmla="val 55000"/>
            </a:avLst>
          </a:prstGeom>
          <a:solidFill>
            <a:srgbClr val="12161F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201168">
            <a:noAutofit/>
          </a:bodyPr>
          <a:lstStyle/>
          <a:p>
            <a:pPr algn="ctr"/>
            <a:r>
              <a:rPr sz="1100" b="1">
                <a:solidFill>
                  <a:srgbClr val="ECEFF4"/>
                </a:solidFill>
                <a:latin typeface="Calibri"/>
              </a:rPr>
              <a:t>Risk detection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6695544" y="2999232"/>
            <a:ext cx="1874056" cy="548640"/>
          </a:xfrm>
          <a:prstGeom prst="chevron">
            <a:avLst>
              <a:gd name="adj" fmla="val 55000"/>
            </a:avLst>
          </a:prstGeom>
          <a:solidFill>
            <a:srgbClr val="141D2E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201168">
            <a:noAutofit/>
          </a:bodyPr>
          <a:lstStyle/>
          <a:p>
            <a:pPr algn="ctr"/>
            <a:r>
              <a:rPr sz="1100" b="1">
                <a:solidFill>
                  <a:srgbClr val="ECEFF4"/>
                </a:solidFill>
                <a:latin typeface="Calibri"/>
              </a:rPr>
              <a:t>Alert</a:t>
            </a:r>
          </a:p>
        </p:txBody>
      </p:sp>
      <p:sp>
        <p:nvSpPr>
          <p:cNvPr id="22" name="Chevron 21"/>
          <p:cNvSpPr/>
          <p:nvPr/>
        </p:nvSpPr>
        <p:spPr>
          <a:xfrm>
            <a:off x="8232270" y="2999232"/>
            <a:ext cx="1874056" cy="548640"/>
          </a:xfrm>
          <a:prstGeom prst="chevron">
            <a:avLst>
              <a:gd name="adj" fmla="val 55000"/>
            </a:avLst>
          </a:prstGeom>
          <a:solidFill>
            <a:srgbClr val="12161F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201168">
            <a:noAutofit/>
          </a:bodyPr>
          <a:lstStyle/>
          <a:p>
            <a:pPr algn="ctr"/>
            <a:r>
              <a:rPr sz="1100" b="1">
                <a:solidFill>
                  <a:srgbClr val="ECEFF4"/>
                </a:solidFill>
                <a:latin typeface="Calibri"/>
              </a:rPr>
              <a:t>Intervention</a:t>
            </a:r>
          </a:p>
        </p:txBody>
      </p:sp>
      <p:sp>
        <p:nvSpPr>
          <p:cNvPr id="23" name="Chevron 22"/>
          <p:cNvSpPr/>
          <p:nvPr/>
        </p:nvSpPr>
        <p:spPr>
          <a:xfrm>
            <a:off x="9768996" y="2999232"/>
            <a:ext cx="1874056" cy="548640"/>
          </a:xfrm>
          <a:prstGeom prst="chevron">
            <a:avLst>
              <a:gd name="adj" fmla="val 55000"/>
            </a:avLst>
          </a:prstGeom>
          <a:solidFill>
            <a:srgbClr val="141D2E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201168">
            <a:noAutofit/>
          </a:bodyPr>
          <a:lstStyle/>
          <a:p>
            <a:pPr algn="ctr"/>
            <a:r>
              <a:rPr sz="1100" b="1">
                <a:solidFill>
                  <a:srgbClr val="ECEFF4"/>
                </a:solidFill>
                <a:latin typeface="Calibri"/>
              </a:rPr>
              <a:t>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221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5B9BF5"/>
                </a:solidFill>
                <a:latin typeface="Calibri"/>
              </a:rPr>
              <a:t>SUPERVISOR JOURNEY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69664"/>
            <a:ext cx="110944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 b="1">
                <a:solidFill>
                  <a:srgbClr val="5B9BF5"/>
                </a:solidFill>
                <a:latin typeface="Calibri"/>
              </a:rPr>
              <a:t>–  </a:t>
            </a:r>
            <a:r>
              <a:rPr sz="1250">
                <a:solidFill>
                  <a:srgbClr val="ECEFF4"/>
                </a:solidFill>
                <a:latin typeface="Calibri"/>
              </a:rPr>
              <a:t>Select or upload a shift's footage in the dashboard.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 b="1">
                <a:solidFill>
                  <a:srgbClr val="5B9BF5"/>
                </a:solidFill>
                <a:latin typeface="Calibri"/>
              </a:rPr>
              <a:t>–  </a:t>
            </a:r>
            <a:r>
              <a:rPr sz="1250">
                <a:solidFill>
                  <a:srgbClr val="ECEFF4"/>
                </a:solidFill>
                <a:latin typeface="Calibri"/>
              </a:rPr>
              <a:t>Pipeline detects and tracks people + handled material (YOLOv8 + ByteTrack).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 b="1">
                <a:solidFill>
                  <a:srgbClr val="5B9BF5"/>
                </a:solidFill>
                <a:latin typeface="Calibri"/>
              </a:rPr>
              <a:t>–  </a:t>
            </a:r>
            <a:r>
              <a:rPr sz="1250">
                <a:solidFill>
                  <a:srgbClr val="ECEFF4"/>
                </a:solidFill>
                <a:latin typeface="Calibri"/>
              </a:rPr>
              <a:t>Behaviour engine flags drop / throw / drag / improper-stack / rough-handling events, each with a plain-English “why.”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 b="1">
                <a:solidFill>
                  <a:srgbClr val="5B9BF5"/>
                </a:solidFill>
                <a:latin typeface="Calibri"/>
              </a:rPr>
              <a:t>–  </a:t>
            </a:r>
            <a:r>
              <a:rPr sz="1250">
                <a:solidFill>
                  <a:srgbClr val="ECEFF4"/>
                </a:solidFill>
                <a:latin typeface="Calibri"/>
              </a:rPr>
              <a:t>Risk engine scores every event Low → Critical and rolls the shift into one index.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 b="1">
                <a:solidFill>
                  <a:srgbClr val="5B9BF5"/>
                </a:solidFill>
                <a:latin typeface="Calibri"/>
              </a:rPr>
              <a:t>–  </a:t>
            </a:r>
            <a:r>
              <a:rPr sz="1250">
                <a:solidFill>
                  <a:srgbClr val="ECEFF4"/>
                </a:solidFill>
                <a:latin typeface="Calibri"/>
              </a:rPr>
              <a:t>Supervisor asks the AI assistant a question — gets an answer grounded only in detected events, plus a recommended fix.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 b="1">
                <a:solidFill>
                  <a:srgbClr val="5B9BF5"/>
                </a:solidFill>
                <a:latin typeface="Calibri"/>
              </a:rPr>
              <a:t>–  </a:t>
            </a:r>
            <a:r>
              <a:rPr sz="1250">
                <a:solidFill>
                  <a:srgbClr val="ECEFF4"/>
                </a:solidFill>
                <a:latin typeface="Calibri"/>
              </a:rPr>
              <a:t>Repeat-offender loads and shift trends surface automatically for training and process fixes.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73952"/>
            <a:ext cx="11094415" cy="11430"/>
          </a:xfrm>
          <a:prstGeom prst="rect">
            <a:avLst/>
          </a:prstGeom>
          <a:solidFill>
            <a:srgbClr val="1D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20">
                <a:solidFill>
                  <a:srgbClr val="545B69"/>
                </a:solidFill>
                <a:latin typeface="Calibri"/>
              </a:rPr>
              <a:t>WAREGUARD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6528816"/>
            <a:ext cx="3776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spc="100">
                <a:solidFill>
                  <a:srgbClr val="545B69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545B69"/>
                </a:solidFill>
                <a:latin typeface="Calibri"/>
              </a:rPr>
              <a:t>03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spc="150">
                <a:solidFill>
                  <a:srgbClr val="5B9BF5"/>
                </a:solidFill>
                <a:latin typeface="Calibri"/>
              </a:rPr>
              <a:t>H O W   I T ' S   B U I L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ECEFF4"/>
                </a:solidFill>
                <a:latin typeface="Calibri Light"/>
              </a:rPr>
              <a:t>Technical Architecture &amp; Technology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02920" cy="27940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3602736" cy="1965960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37944"/>
            <a:ext cx="33020" cy="1673352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19656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CEFF4"/>
                </a:solidFill>
                <a:latin typeface="Calibri"/>
              </a:rPr>
              <a:t>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856232"/>
            <a:ext cx="2871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CEFF4"/>
                </a:solidFill>
                <a:latin typeface="Calibri"/>
              </a:rPr>
              <a:t>Computer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258568"/>
            <a:ext cx="31455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YOLOv8n (Ultralytics)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ByteTrack multi-object tracking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OpenCV ingestion + HUD overlay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691640"/>
            <a:ext cx="3602736" cy="1965960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837944"/>
            <a:ext cx="33020" cy="1673352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819656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CEFF4"/>
                </a:solidFill>
                <a:latin typeface="Calibri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1856232"/>
            <a:ext cx="2871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CEFF4"/>
                </a:solidFill>
                <a:latin typeface="Calibri"/>
              </a:rPr>
              <a:t>Behaviour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58568"/>
            <a:ext cx="31455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Custom heuristic engine, stdlib-only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Kinematics normalised in object-heights/sec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5 detectors: drop, throw, drag, stack, rough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Temporal + overlap resolution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691640"/>
            <a:ext cx="3602736" cy="1965960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837944"/>
            <a:ext cx="33020" cy="1673352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1819656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CEFF4"/>
                </a:solidFill>
                <a:latin typeface="Calibri"/>
              </a:rP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0224" y="1856232"/>
            <a:ext cx="2871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CEFF4"/>
                </a:solidFill>
                <a:latin typeface="Calibri"/>
              </a:rPr>
              <a:t>AI /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2258568"/>
            <a:ext cx="31455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PyTorch, MPS-accelerated (Apple Silicon)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COCO-pretrained detector +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warehouse-object classification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22192"/>
            <a:ext cx="3602736" cy="1965960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968496"/>
            <a:ext cx="33020" cy="1673352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5020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CEFF4"/>
                </a:solidFill>
                <a:latin typeface="Calibri"/>
              </a:rPr>
              <a:t>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986784"/>
            <a:ext cx="2871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CEFF4"/>
                </a:solidFill>
                <a:latin typeface="Calibri"/>
              </a:rPr>
              <a:t>LLM / Assistant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4389120"/>
            <a:ext cx="31455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Optional OpenAI-compatible endpoint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Offline heuristic responder by default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Grounded only in detected-event JSON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3822192"/>
            <a:ext cx="3602736" cy="1965960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3968496"/>
            <a:ext cx="33020" cy="1673352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8848" y="395020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CEFF4"/>
                </a:solidFill>
                <a:latin typeface="Calibri"/>
              </a:rPr>
              <a:t>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82896" y="3986784"/>
            <a:ext cx="2871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CEFF4"/>
                </a:solidFill>
                <a:latin typeface="Calibri"/>
              </a:rPr>
              <a:t>Front-end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389120"/>
            <a:ext cx="31455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Streamlit dashboard, 5 tabs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Video + HUD, kinematics, risk panel,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detections log, AI chat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3822192"/>
            <a:ext cx="3602736" cy="1965960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83296" y="3968496"/>
            <a:ext cx="33020" cy="1673352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6176" y="395020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CEFF4"/>
                </a:solidFill>
                <a:latin typeface="Calibri"/>
              </a:rPr>
              <a:t>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0224" y="3986784"/>
            <a:ext cx="2871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CEFF4"/>
                </a:solidFill>
                <a:latin typeface="Calibri"/>
              </a:rPr>
              <a:t>Data &amp; Edge / Cloud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4389120"/>
            <a:ext cx="31455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Structured JSON + CSV logs per shift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No database dependency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Behaviour/risk core: zero vision-stack deps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— runs fully on-device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73952"/>
            <a:ext cx="11094415" cy="11430"/>
          </a:xfrm>
          <a:prstGeom prst="rect">
            <a:avLst/>
          </a:prstGeom>
          <a:solidFill>
            <a:srgbClr val="1D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20">
                <a:solidFill>
                  <a:srgbClr val="545B69"/>
                </a:solidFill>
                <a:latin typeface="Calibri"/>
              </a:rPr>
              <a:t>WAREGUARD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6528816"/>
            <a:ext cx="3776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spc="100">
                <a:solidFill>
                  <a:srgbClr val="545B69"/>
                </a:solidFill>
                <a:latin typeface="Calibri"/>
              </a:rPr>
              <a:t>LIVE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545B69"/>
                </a:solidFill>
                <a:latin typeface="Calibri"/>
              </a:rPr>
              <a:t>04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spc="150">
                <a:solidFill>
                  <a:srgbClr val="5B9BF5"/>
                </a:solidFill>
                <a:latin typeface="Calibri"/>
              </a:rPr>
              <a:t>N O T   S T A G E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ECEFF4"/>
                </a:solidFill>
                <a:latin typeface="Calibri Light"/>
              </a:rPr>
              <a:t>Prototype Screenshots &amp;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78F9E"/>
                </a:solidFill>
                <a:latin typeface="Calibri"/>
              </a:rPr>
              <a:t>Real footage: Throwing Mattresses.mp4 — a genuine warehouse handling clip, unedited.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02920" cy="27940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3602736" cy="2404872"/>
          </a:xfrm>
          <a:prstGeom prst="roundRect">
            <a:avLst>
              <a:gd name="adj" fmla="val 30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3602736" cy="256032"/>
          </a:xfrm>
          <a:prstGeom prst="rect">
            <a:avLst/>
          </a:prstGeom>
          <a:solidFill>
            <a:srgbClr val="0D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6656" y="2093976"/>
            <a:ext cx="91440" cy="91440"/>
          </a:xfrm>
          <a:prstGeom prst="ellipse">
            <a:avLst/>
          </a:prstGeom>
          <a:solidFill>
            <a:srgbClr val="E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2093976"/>
            <a:ext cx="91440" cy="91440"/>
          </a:xfrm>
          <a:prstGeom prst="ellipse">
            <a:avLst/>
          </a:prstGeom>
          <a:solidFill>
            <a:srgbClr val="F0A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2093976"/>
            <a:ext cx="91440" cy="91440"/>
          </a:xfrm>
          <a:prstGeom prst="ellipse">
            <a:avLst/>
          </a:prstGeom>
          <a:solidFill>
            <a:srgbClr val="4CC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creenshot-1788969742251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949" y="2267712"/>
            <a:ext cx="2938117" cy="2148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4507992"/>
            <a:ext cx="36027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78F9E"/>
                </a:solidFill>
                <a:latin typeface="Calibri"/>
              </a:rPr>
              <a:t>Detection + tracking overview — 65 tracks, 1,615 detections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011680"/>
            <a:ext cx="3602736" cy="2404872"/>
          </a:xfrm>
          <a:prstGeom prst="roundRect">
            <a:avLst>
              <a:gd name="adj" fmla="val 30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2011680"/>
            <a:ext cx="3602736" cy="256032"/>
          </a:xfrm>
          <a:prstGeom prst="rect">
            <a:avLst/>
          </a:prstGeom>
          <a:solidFill>
            <a:srgbClr val="0D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43984" y="2093976"/>
            <a:ext cx="91440" cy="91440"/>
          </a:xfrm>
          <a:prstGeom prst="ellipse">
            <a:avLst/>
          </a:prstGeom>
          <a:solidFill>
            <a:srgbClr val="E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08576" y="2093976"/>
            <a:ext cx="91440" cy="91440"/>
          </a:xfrm>
          <a:prstGeom prst="ellipse">
            <a:avLst/>
          </a:prstGeom>
          <a:solidFill>
            <a:srgbClr val="F0A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73168" y="2093976"/>
            <a:ext cx="91440" cy="91440"/>
          </a:xfrm>
          <a:prstGeom prst="ellipse">
            <a:avLst/>
          </a:prstGeom>
          <a:solidFill>
            <a:srgbClr val="4CC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creenshot-1788969807433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665" y="2267712"/>
            <a:ext cx="2129341" cy="21488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15968" y="4507992"/>
            <a:ext cx="36027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78F9E"/>
                </a:solidFill>
                <a:latin typeface="Calibri"/>
              </a:rPr>
              <a:t>Risk event card: score, confidence, “why,” recommended 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2011680"/>
            <a:ext cx="3602736" cy="2404872"/>
          </a:xfrm>
          <a:prstGeom prst="roundRect">
            <a:avLst>
              <a:gd name="adj" fmla="val 30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3296" y="2011680"/>
            <a:ext cx="3602736" cy="256032"/>
          </a:xfrm>
          <a:prstGeom prst="rect">
            <a:avLst/>
          </a:prstGeom>
          <a:solidFill>
            <a:srgbClr val="0D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11312" y="2093976"/>
            <a:ext cx="91440" cy="91440"/>
          </a:xfrm>
          <a:prstGeom prst="ellipse">
            <a:avLst/>
          </a:prstGeom>
          <a:solidFill>
            <a:srgbClr val="E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75904" y="2093976"/>
            <a:ext cx="91440" cy="91440"/>
          </a:xfrm>
          <a:prstGeom prst="ellipse">
            <a:avLst/>
          </a:prstGeom>
          <a:solidFill>
            <a:srgbClr val="F0A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40496" y="2093976"/>
            <a:ext cx="91440" cy="91440"/>
          </a:xfrm>
          <a:prstGeom prst="ellipse">
            <a:avLst/>
          </a:prstGeom>
          <a:solidFill>
            <a:srgbClr val="4CC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creenshot-1788969855634-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450" y="2267712"/>
            <a:ext cx="2228427" cy="21488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083296" y="4507992"/>
            <a:ext cx="36027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78F9E"/>
                </a:solidFill>
                <a:latin typeface="Calibri"/>
              </a:rPr>
              <a:t>AI assistant — offline, grounded in detected events only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73752"/>
            <a:ext cx="11094415" cy="1234440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020056"/>
            <a:ext cx="33020" cy="941832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demo_video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31520" y="5001768"/>
            <a:ext cx="2194560" cy="9784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108960" y="5038344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ECEFF4"/>
                </a:solidFill>
                <a:latin typeface="Calibri"/>
              </a:rPr>
              <a:t>Demo video — 6 scenarios, real dashboard runs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ECEFF4"/>
                </a:solidFill>
                <a:latin typeface="Calibri"/>
              </a:rPr>
              <a:t>(silent, captioned — click to play in PowerPoint)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5650992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78F9E"/>
                </a:solidFill>
                <a:latin typeface="Calibri"/>
              </a:rPr>
              <a:t>If it doesn't play here: docs/demo_video.mp4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73952"/>
            <a:ext cx="11094415" cy="11430"/>
          </a:xfrm>
          <a:prstGeom prst="rect">
            <a:avLst/>
          </a:prstGeom>
          <a:solidFill>
            <a:srgbClr val="1D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20">
                <a:solidFill>
                  <a:srgbClr val="545B69"/>
                </a:solidFill>
                <a:latin typeface="Calibri"/>
              </a:rPr>
              <a:t>WAREGUARD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6528816"/>
            <a:ext cx="3776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spc="100">
                <a:solidFill>
                  <a:srgbClr val="545B69"/>
                </a:solidFill>
                <a:latin typeface="Calibri"/>
              </a:rPr>
              <a:t>IMPACT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545B69"/>
                </a:solidFill>
                <a:latin typeface="Calibri"/>
              </a:rPr>
              <a:t>05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spc="150">
                <a:solidFill>
                  <a:srgbClr val="5B9BF5"/>
                </a:solidFill>
                <a:latin typeface="Calibri"/>
              </a:rPr>
              <a:t>R E F R A M E D ,   P E R   T H E   B R I 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ECEFF4"/>
                </a:solidFill>
                <a:latin typeface="Calibri Light"/>
              </a:rPr>
              <a:t>Damage Prevention &amp; User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02920" cy="27940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18488"/>
            <a:ext cx="1109441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1">
                <a:solidFill>
                  <a:srgbClr val="ECEFF4"/>
                </a:solidFill>
                <a:latin typeface="Calibri"/>
              </a:rPr>
              <a:t>“We identified 1 high-risk handling event across 7 real shift clips and gave the supervisor a specific corrective action — before damage occurred.”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77440"/>
            <a:ext cx="2670048" cy="1600200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77440"/>
            <a:ext cx="2670048" cy="30480"/>
          </a:xfrm>
          <a:prstGeom prst="rect">
            <a:avLst/>
          </a:prstGeom>
          <a:solidFill>
            <a:srgbClr val="E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06B6B"/>
                </a:solidFill>
                <a:latin typeface="Calibri Ligh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200400"/>
            <a:ext cx="22677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CEFF4"/>
                </a:solidFill>
                <a:latin typeface="Calibri"/>
              </a:rPr>
              <a:t>High-risk event confirmed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78F9E"/>
                </a:solidFill>
                <a:latin typeface="Calibri"/>
              </a:rPr>
              <a:t>Rough handling, risk 58/100, 84% confidence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2377440"/>
            <a:ext cx="2670048" cy="1600200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2377440"/>
            <a:ext cx="2670048" cy="30480"/>
          </a:xfrm>
          <a:prstGeom prst="rect">
            <a:avLst/>
          </a:prstGeom>
          <a:solidFill>
            <a:srgbClr val="4CC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0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4CC98E"/>
                </a:solidFill>
                <a:latin typeface="Calibri Ligh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200400"/>
            <a:ext cx="22677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CEFF4"/>
                </a:solidFill>
                <a:latin typeface="Calibri"/>
              </a:rPr>
              <a:t>Confident clean shifts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520440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78F9E"/>
                </a:solidFill>
                <a:latin typeface="Calibri"/>
              </a:rPr>
              <a:t>Genuine “no unsafe handling” reads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2377440"/>
            <a:ext cx="2670048" cy="1600200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2377440"/>
            <a:ext cx="2670048" cy="30480"/>
          </a:xfrm>
          <a:prstGeom prst="rect">
            <a:avLst/>
          </a:prstGeom>
          <a:solidFill>
            <a:srgbClr val="F0A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560320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0A53C"/>
                </a:solidFill>
                <a:latin typeface="Calibri Ligh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200400"/>
            <a:ext cx="22677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CEFF4"/>
                </a:solidFill>
                <a:latin typeface="Calibri"/>
              </a:rPr>
              <a:t>Honest data-quality flags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520440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78F9E"/>
                </a:solidFill>
                <a:latin typeface="Calibri"/>
              </a:rPr>
              <a:t>Insufficient tracking — never a false all-clear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97696" y="2377440"/>
            <a:ext cx="2670048" cy="1600200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97696" y="2377440"/>
            <a:ext cx="2670048" cy="30480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8864" y="2560320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5B9BF5"/>
                </a:solidFill>
                <a:latin typeface="Calibri Light"/>
              </a:rPr>
              <a:t>5 /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3200400"/>
            <a:ext cx="22677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CEFF4"/>
                </a:solidFill>
                <a:latin typeface="Calibri"/>
              </a:rPr>
              <a:t>Behaviours proven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4" y="3520440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78F9E"/>
                </a:solidFill>
                <a:latin typeface="Calibri"/>
              </a:rPr>
              <a:t>Simulated ground-truth self-test, sub-second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069080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B9BF5"/>
                </a:solidFill>
                <a:latin typeface="Calibri"/>
              </a:rPr>
              <a:t>12 scenario demonstrations total — 7 real clips + 5 simulated behaviour types (drop, throw, drag, improper-stack, rough-handling). Brief requires ≥10.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434840"/>
            <a:ext cx="7223760" cy="1600200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581144"/>
            <a:ext cx="33020" cy="1307592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581144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80">
                <a:solidFill>
                  <a:srgbClr val="ECEFF4"/>
                </a:solidFill>
                <a:latin typeface="Calibri"/>
              </a:rPr>
              <a:t>VALIDATION STATUS — HONESTLY LABELLED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910328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60">
                <a:solidFill>
                  <a:srgbClr val="4CC98E"/>
                </a:solidFill>
                <a:latin typeface="Calibri"/>
              </a:rPr>
              <a:t>DONE TODAY (internal, real)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202936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5B9BF5"/>
                </a:solidFill>
                <a:latin typeface="Calibri"/>
              </a:rPr>
              <a:t>–  </a:t>
            </a:r>
            <a:r>
              <a:rPr sz="1000">
                <a:solidFill>
                  <a:srgbClr val="ECEFF4"/>
                </a:solidFill>
                <a:latin typeface="Calibri"/>
              </a:rPr>
              <a:t>Ran all 7 real clips + simulated self-test end to end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5B9BF5"/>
                </a:solidFill>
                <a:latin typeface="Calibri"/>
              </a:rPr>
              <a:t>–  </a:t>
            </a:r>
            <a:r>
              <a:rPr sz="1000">
                <a:solidFill>
                  <a:srgbClr val="ECEFF4"/>
                </a:solidFill>
                <a:latin typeface="Calibri"/>
              </a:rPr>
              <a:t>Found + fixed a real bug: 0 cargo tracks classified on real footage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5B9BF5"/>
                </a:solidFill>
                <a:latin typeface="Calibri"/>
              </a:rPr>
              <a:t>–  </a:t>
            </a:r>
            <a:r>
              <a:rPr sz="1000">
                <a:solidFill>
                  <a:srgbClr val="ECEFF4"/>
                </a:solidFill>
                <a:latin typeface="Calibri"/>
              </a:rPr>
              <a:t>63 / 63 automated tests passing after the fix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491032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60">
                <a:solidFill>
                  <a:srgbClr val="F0A53C"/>
                </a:solidFill>
                <a:latin typeface="Calibri"/>
              </a:rPr>
              <a:t>NOT YET DONE (needs real users)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5202936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5B9BF5"/>
                </a:solidFill>
                <a:latin typeface="Calibri"/>
              </a:rPr>
              <a:t>–  </a:t>
            </a:r>
            <a:r>
              <a:rPr sz="1000">
                <a:solidFill>
                  <a:srgbClr val="ECEFF4"/>
                </a:solidFill>
                <a:latin typeface="Calibri"/>
              </a:rPr>
              <a:t>Real supervisor / operator review of alerts + recommendations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5B9BF5"/>
                </a:solidFill>
                <a:latin typeface="Calibri"/>
              </a:rPr>
              <a:t>–  </a:t>
            </a:r>
            <a:r>
              <a:rPr sz="1000">
                <a:solidFill>
                  <a:srgbClr val="ECEFF4"/>
                </a:solidFill>
                <a:latin typeface="Calibri"/>
              </a:rPr>
              <a:t>Precision / recall against labelled ground truth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5B9BF5"/>
                </a:solidFill>
                <a:latin typeface="Calibri"/>
              </a:rPr>
              <a:t>–  </a:t>
            </a:r>
            <a:r>
              <a:rPr sz="1000">
                <a:solidFill>
                  <a:srgbClr val="ECEFF4"/>
                </a:solidFill>
                <a:latin typeface="Calibri"/>
              </a:rPr>
              <a:t>Measured business impact (financial, incident reduction)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20" y="4434840"/>
            <a:ext cx="3383280" cy="1600200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75320" y="4581144"/>
            <a:ext cx="33020" cy="1307592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458114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100">
                <a:solidFill>
                  <a:srgbClr val="4CC98E"/>
                </a:solidFill>
                <a:latin typeface="Calibri"/>
              </a:rPr>
              <a:t>RESPONSIBLE AI, BUILT 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489204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78F9E"/>
                </a:solidFill>
                <a:latin typeface="Calibri"/>
              </a:rPr>
              <a:t>Never reports empty events as “all clear.” Severity and priority kept separate. Assistant answers only from detected data. Runs fully offline.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73952"/>
            <a:ext cx="11094415" cy="11430"/>
          </a:xfrm>
          <a:prstGeom prst="rect">
            <a:avLst/>
          </a:prstGeom>
          <a:solidFill>
            <a:srgbClr val="1D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20">
                <a:solidFill>
                  <a:srgbClr val="545B69"/>
                </a:solidFill>
                <a:latin typeface="Calibri"/>
              </a:rPr>
              <a:t>WAREGUARD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6528816"/>
            <a:ext cx="3776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spc="100">
                <a:solidFill>
                  <a:srgbClr val="545B69"/>
                </a:solidFill>
                <a:latin typeface="Calibri"/>
              </a:rPr>
              <a:t>INNOVATION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545B69"/>
                </a:solidFill>
                <a:latin typeface="Calibri"/>
              </a:rPr>
              <a:t>06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spc="150">
                <a:solidFill>
                  <a:srgbClr val="5B9BF5"/>
                </a:solidFill>
                <a:latin typeface="Calibri"/>
              </a:rPr>
              <a:t>W H A T ' S   R E A L   V S .   W H A T ' S   N E X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ECEFF4"/>
                </a:solidFill>
                <a:latin typeface="Calibri Light"/>
              </a:rPr>
              <a:t>Innovation, Roadmap &amp; Judging-Criteria 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02920" cy="27940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3584448" cy="4343400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46504"/>
            <a:ext cx="33020" cy="4050792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783080"/>
            <a:ext cx="3127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60">
                <a:solidFill>
                  <a:srgbClr val="4CC98E"/>
                </a:solidFill>
                <a:latin typeface="Calibri"/>
              </a:rPr>
              <a:t>ALREADY TRUE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221992"/>
            <a:ext cx="31272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Edge AI / offline inference — zero vision-stack dependency in the core engine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Explainable risk scoring — every event ships a “why” breakdown, not just a number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Recommended actions pulled from this brief's own Good-Practice table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Data-quality honesty — never reports “all clear” on unusable tracking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63 / 63 automated tests passing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600200"/>
            <a:ext cx="3584448" cy="4343400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746504"/>
            <a:ext cx="33020" cy="4050792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783080"/>
            <a:ext cx="3127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">
                <a:solidFill>
                  <a:srgbClr val="5B9BF5"/>
                </a:solidFill>
                <a:latin typeface="Calibri"/>
              </a:rPr>
              <a:t>JUDGING CRITERIA — SELF-ASSESSMENT</a:t>
            </a:r>
          </a:p>
        </p:txBody>
      </p:sp>
      <p:sp>
        <p:nvSpPr>
          <p:cNvPr id="17" name="Oval 16"/>
          <p:cNvSpPr/>
          <p:nvPr/>
        </p:nvSpPr>
        <p:spPr>
          <a:xfrm>
            <a:off x="4553712" y="2231136"/>
            <a:ext cx="100584" cy="100584"/>
          </a:xfrm>
          <a:prstGeom prst="ellipse">
            <a:avLst/>
          </a:prstGeom>
          <a:solidFill>
            <a:srgbClr val="4CC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130552"/>
            <a:ext cx="290779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CEFF4"/>
                </a:solidFill>
                <a:latin typeface="Calibri"/>
              </a:rPr>
              <a:t>Innovation &amp; Creativity  (15%)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359152"/>
            <a:ext cx="2907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4CC98E"/>
                </a:solidFill>
                <a:latin typeface="Calibri"/>
              </a:rPr>
              <a:t>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8" y="2569464"/>
            <a:ext cx="2907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78F9E"/>
                </a:solidFill>
                <a:latin typeface="Calibri"/>
              </a:rPr>
              <a:t>Honest risk gating, brief-sourced recommendations</a:t>
            </a:r>
          </a:p>
        </p:txBody>
      </p:sp>
      <p:sp>
        <p:nvSpPr>
          <p:cNvPr id="21" name="Oval 20"/>
          <p:cNvSpPr/>
          <p:nvPr/>
        </p:nvSpPr>
        <p:spPr>
          <a:xfrm>
            <a:off x="4553712" y="2839212"/>
            <a:ext cx="100584" cy="100584"/>
          </a:xfrm>
          <a:prstGeom prst="ellipse">
            <a:avLst/>
          </a:prstGeom>
          <a:solidFill>
            <a:srgbClr val="4CC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2738628"/>
            <a:ext cx="290779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CEFF4"/>
                </a:solidFill>
                <a:latin typeface="Calibri"/>
              </a:rPr>
              <a:t>Technical Execution  (20%)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2967228"/>
            <a:ext cx="2907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4CC98E"/>
                </a:solidFill>
                <a:latin typeface="Calibri"/>
              </a:rPr>
              <a:t>STRONG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3177540"/>
            <a:ext cx="2907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78F9E"/>
                </a:solidFill>
                <a:latin typeface="Calibri"/>
              </a:rPr>
              <a:t>End-to-end pipeline, real bugs found + fixed today</a:t>
            </a:r>
          </a:p>
        </p:txBody>
      </p:sp>
      <p:sp>
        <p:nvSpPr>
          <p:cNvPr id="25" name="Oval 24"/>
          <p:cNvSpPr/>
          <p:nvPr/>
        </p:nvSpPr>
        <p:spPr>
          <a:xfrm>
            <a:off x="4553712" y="3447288"/>
            <a:ext cx="100584" cy="100584"/>
          </a:xfrm>
          <a:prstGeom prst="ellipse">
            <a:avLst/>
          </a:prstGeom>
          <a:solidFill>
            <a:srgbClr val="4CC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3346704"/>
            <a:ext cx="290779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CEFF4"/>
                </a:solidFill>
                <a:latin typeface="Calibri"/>
              </a:rPr>
              <a:t>AI + Video Integration  (20%)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3575304"/>
            <a:ext cx="2907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4CC98E"/>
                </a:solidFill>
                <a:latin typeface="Calibri"/>
              </a:rPr>
              <a:t>STRONG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3785616"/>
            <a:ext cx="2907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78F9E"/>
                </a:solidFill>
                <a:latin typeface="Calibri"/>
              </a:rPr>
              <a:t>Detection → behaviour → risk → LLM, fully wired</a:t>
            </a:r>
          </a:p>
        </p:txBody>
      </p:sp>
      <p:sp>
        <p:nvSpPr>
          <p:cNvPr id="29" name="Oval 28"/>
          <p:cNvSpPr/>
          <p:nvPr/>
        </p:nvSpPr>
        <p:spPr>
          <a:xfrm>
            <a:off x="4553712" y="4055364"/>
            <a:ext cx="100584" cy="100584"/>
          </a:xfrm>
          <a:prstGeom prst="ellipse">
            <a:avLst/>
          </a:prstGeom>
          <a:solidFill>
            <a:srgbClr val="F0A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3954780"/>
            <a:ext cx="290779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CEFF4"/>
                </a:solidFill>
                <a:latin typeface="Calibri"/>
              </a:rPr>
              <a:t>UX &amp; User Feedback  (10%)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4183380"/>
            <a:ext cx="2907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0A53C"/>
                </a:solidFill>
                <a:latin typeface="Calibri"/>
              </a:rPr>
              <a:t>PARTIAL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4393692"/>
            <a:ext cx="2907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78F9E"/>
                </a:solidFill>
                <a:latin typeface="Calibri"/>
              </a:rPr>
              <a:t>Dashboard dogfooded; no real supervisor feedback yet</a:t>
            </a:r>
          </a:p>
        </p:txBody>
      </p:sp>
      <p:sp>
        <p:nvSpPr>
          <p:cNvPr id="33" name="Oval 32"/>
          <p:cNvSpPr/>
          <p:nvPr/>
        </p:nvSpPr>
        <p:spPr>
          <a:xfrm>
            <a:off x="4553712" y="4663440"/>
            <a:ext cx="100584" cy="100584"/>
          </a:xfrm>
          <a:prstGeom prst="ellipse">
            <a:avLst/>
          </a:prstGeom>
          <a:solidFill>
            <a:srgbClr val="F0A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73168" y="4562856"/>
            <a:ext cx="290779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CEFF4"/>
                </a:solidFill>
                <a:latin typeface="Calibri"/>
              </a:rPr>
              <a:t>Damage Prevention &amp; Impact  (20%)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3168" y="4791456"/>
            <a:ext cx="2907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0A53C"/>
                </a:solidFill>
                <a:latin typeface="Calibri"/>
              </a:rPr>
              <a:t>PARTIAL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3168" y="5001768"/>
            <a:ext cx="2907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78F9E"/>
                </a:solidFill>
                <a:latin typeface="Calibri"/>
              </a:rPr>
              <a:t>Reframed + actionable; financial impact not quantified</a:t>
            </a:r>
          </a:p>
        </p:txBody>
      </p:sp>
      <p:sp>
        <p:nvSpPr>
          <p:cNvPr id="37" name="Oval 36"/>
          <p:cNvSpPr/>
          <p:nvPr/>
        </p:nvSpPr>
        <p:spPr>
          <a:xfrm>
            <a:off x="4553712" y="5271516"/>
            <a:ext cx="100584" cy="100584"/>
          </a:xfrm>
          <a:prstGeom prst="ellipse">
            <a:avLst/>
          </a:prstGeom>
          <a:solidFill>
            <a:srgbClr val="4CC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73168" y="5170932"/>
            <a:ext cx="290779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CEFF4"/>
                </a:solidFill>
                <a:latin typeface="Calibri"/>
              </a:rPr>
              <a:t>Presentation Quality  (15%)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5399532"/>
            <a:ext cx="2907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4CC98E"/>
                </a:solidFill>
                <a:latin typeface="Calibri"/>
              </a:rPr>
              <a:t>STRONG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3168" y="5609844"/>
            <a:ext cx="2907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78F9E"/>
                </a:solidFill>
                <a:latin typeface="Calibri"/>
              </a:rPr>
              <a:t>This deck + a 6-scenario demo video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1600200"/>
            <a:ext cx="3584448" cy="4343400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2700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6720" y="1746504"/>
            <a:ext cx="33020" cy="4050792"/>
          </a:xfrm>
          <a:prstGeom prst="rect">
            <a:avLst/>
          </a:prstGeom>
          <a:solidFill>
            <a:srgbClr val="5B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02752" y="1783080"/>
            <a:ext cx="3127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40">
                <a:solidFill>
                  <a:srgbClr val="F0A53C"/>
                </a:solidFill>
                <a:latin typeface="Calibri"/>
              </a:rPr>
              <a:t>ROADMAP, HONESTLY LABELLED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2752" y="2221992"/>
            <a:ext cx="31272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Orientation classification (vertical-vs-horizontal handling)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Dock-level / floor-condition detection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Warehouse-specific fine-tuned detector, replacing the COCO-proxy classification on real footage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Multi-camera tracking, PPE compliance detection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050" b="1">
                <a:solidFill>
                  <a:srgbClr val="5B9BF5"/>
                </a:solidFill>
                <a:latin typeface="Calibri"/>
              </a:rPr>
              <a:t>–  </a:t>
            </a:r>
            <a:r>
              <a:rPr sz="1050">
                <a:solidFill>
                  <a:srgbClr val="ECEFF4"/>
                </a:solidFill>
                <a:latin typeface="Calibri"/>
              </a:rPr>
              <a:t>Precision/recall against labelled ground truth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
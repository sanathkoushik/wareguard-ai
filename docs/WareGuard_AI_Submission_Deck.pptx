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184648" y="1554480"/>
            <a:ext cx="1828800" cy="1828800"/>
          </a:xfrm>
          <a:prstGeom prst="ellipse">
            <a:avLst/>
          </a:prstGeom>
          <a:solidFill>
            <a:srgbClr val="1B2A44"/>
          </a:solidFill>
          <a:ln w="25400">
            <a:solidFill>
              <a:srgbClr val="5B9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/>
              <a:t>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2044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E8ECF2"/>
                </a:solidFill>
                <a:latin typeface="Calibri"/>
              </a:rPr>
              <a:t>WareGuard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CC7FA"/>
                </a:solidFill>
                <a:latin typeface="Calibri"/>
              </a:rPr>
              <a:t>AI Video Intelligence for Warehouse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45752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AA3B2"/>
                </a:solidFill>
                <a:latin typeface="Calibri"/>
              </a:rPr>
              <a:t>An AI field intelligence assistant that watches loading and unloading footage,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AA3B2"/>
                </a:solidFill>
                <a:latin typeface="Calibri"/>
              </a:rPr>
              <a:t>explains why a handling action is risky, and tells the supervisor what to do about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AA3B2"/>
                </a:solidFill>
                <a:latin typeface="Calibri"/>
              </a:rPr>
              <a:t>it — before the product is damaged, not after.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8ECF2"/>
                </a:solidFill>
                <a:latin typeface="Calibri"/>
              </a:rPr>
              <a:t>[Team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309360"/>
            <a:ext cx="121916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AA3B2"/>
                </a:solidFill>
                <a:latin typeface="Calibri"/>
              </a:rPr>
              <a:t>[Team members]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B9BF5"/>
                </a:solidFill>
                <a:latin typeface="Calibri"/>
              </a:rPr>
              <a:t>PROBLEM → SOLUTION →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8ECF2"/>
                </a:solidFill>
                <a:latin typeface="Calibri"/>
              </a:rPr>
              <a:t>From CCTV surveillance to operational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56B6B"/>
                </a:solidFill>
                <a:latin typeface="Calibri"/>
              </a:rPr>
              <a:t>Traditional CCTV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081174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E5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29814" y="1828800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4406" y="1828800"/>
            <a:ext cx="2081174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E5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Recording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5580" y="1828800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0172" y="1828800"/>
            <a:ext cx="2081174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E5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Human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1346" y="1828800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85938" y="1828800"/>
            <a:ext cx="2081174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E5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Incident discovered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67112" y="1828800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31704" y="1828800"/>
            <a:ext cx="2081174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E5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Corrective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06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CC98E"/>
                </a:solidFill>
                <a:latin typeface="Calibri"/>
              </a:rPr>
              <a:t>WareGuard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898648"/>
            <a:ext cx="1439526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4CC9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Camera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8166" y="2898648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52758" y="2898648"/>
            <a:ext cx="1439526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4CC9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AI perception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2284" y="2898648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56876" y="2898648"/>
            <a:ext cx="1439526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4CC9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Behaviour
understanding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6402" y="2898648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60994" y="2898648"/>
            <a:ext cx="1439526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4CC9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Risk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00520" y="2898648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65112" y="2898648"/>
            <a:ext cx="1439526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4CC9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Alert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4638" y="2898648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69230" y="2898648"/>
            <a:ext cx="1439526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4CC9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Intervention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08756" y="2898648"/>
            <a:ext cx="164592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>
                <a:solidFill>
                  <a:srgbClr val="9AA3B2"/>
                </a:solidFill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3348" y="2898648"/>
            <a:ext cx="1439526" cy="548640"/>
          </a:xfrm>
          <a:prstGeom prst="roundRect">
            <a:avLst>
              <a:gd name="adj" fmla="val 15000"/>
            </a:avLst>
          </a:prstGeom>
          <a:solidFill>
            <a:srgbClr val="151922"/>
          </a:solidFill>
          <a:ln w="15875">
            <a:solidFill>
              <a:srgbClr val="4CC9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E8ECF2"/>
                </a:solidFill>
              </a:rPr>
              <a:t>Learning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9476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B9BF5"/>
                </a:solidFill>
                <a:latin typeface="Calibri"/>
              </a:rPr>
              <a:t>Supervisor journey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16052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450">
                <a:solidFill>
                  <a:srgbClr val="E8ECF2"/>
                </a:solidFill>
                <a:latin typeface="Calibri"/>
              </a:rPr>
              <a:t>•  Select or upload a shift's footage in the dashboard.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450">
                <a:solidFill>
                  <a:srgbClr val="E8ECF2"/>
                </a:solidFill>
                <a:latin typeface="Calibri"/>
              </a:rPr>
              <a:t>•  Pipeline detects and tracks people + handled material (YOLOv8 + ByteTrack).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450">
                <a:solidFill>
                  <a:srgbClr val="E8ECF2"/>
                </a:solidFill>
                <a:latin typeface="Calibri"/>
              </a:rPr>
              <a:t>•  Behaviour engine flags drop / throw / drag / improper-stack / rough-handling events, each with a plain-English “why.”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450">
                <a:solidFill>
                  <a:srgbClr val="E8ECF2"/>
                </a:solidFill>
                <a:latin typeface="Calibri"/>
              </a:rPr>
              <a:t>•  Risk engine scores every event Low → Critical and rolls the shift into one index.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450">
                <a:solidFill>
                  <a:srgbClr val="E8ECF2"/>
                </a:solidFill>
                <a:latin typeface="Calibri"/>
              </a:rPr>
              <a:t>•  Supervisor asks the AI assistant a question — gets an answer grounded only in detected events, plus a recommended corrective action.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450">
                <a:solidFill>
                  <a:srgbClr val="E8ECF2"/>
                </a:solidFill>
                <a:latin typeface="Calibri"/>
              </a:rPr>
              <a:t>•  Repeat-offender loads and shift trends surface automatically for training and process fixes.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B9BF5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8ECF2"/>
                </a:solidFill>
                <a:latin typeface="Calibri"/>
              </a:rPr>
              <a:t>Technical architecture &amp;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611880" cy="2331720"/>
          </a:xfrm>
          <a:prstGeom prst="roundRect">
            <a:avLst>
              <a:gd name="adj" fmla="val 5000"/>
            </a:avLst>
          </a:prstGeom>
          <a:solidFill>
            <a:srgbClr val="151922"/>
          </a:solidFill>
          <a:ln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B9BF5"/>
                </a:solidFill>
                <a:latin typeface="Calibri"/>
              </a:rPr>
              <a:t>Computer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YOLOv8n (Ultralytics)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ByteTrack multi-object tracking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OpenCV ingestion + HUD overlay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611880" cy="2331720"/>
          </a:xfrm>
          <a:prstGeom prst="roundRect">
            <a:avLst>
              <a:gd name="adj" fmla="val 5000"/>
            </a:avLst>
          </a:prstGeom>
          <a:solidFill>
            <a:srgbClr val="151922"/>
          </a:solidFill>
          <a:ln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373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B9BF5"/>
                </a:solidFill>
                <a:latin typeface="Calibri"/>
              </a:rPr>
              <a:t>Behaviour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488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Custom heuristic engine, stdlib-only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Kinematics normalised in object-heights/sec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5 detectors: drop, throw, drag, improper-stack, rough-handling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Temporal + overlap resolution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00200"/>
            <a:ext cx="3611880" cy="2331720"/>
          </a:xfrm>
          <a:prstGeom prst="roundRect">
            <a:avLst>
              <a:gd name="adj" fmla="val 5000"/>
            </a:avLst>
          </a:prstGeom>
          <a:solidFill>
            <a:srgbClr val="151922"/>
          </a:solidFill>
          <a:ln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373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B9BF5"/>
                </a:solidFill>
                <a:latin typeface="Calibri"/>
              </a:rPr>
              <a:t>AI /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488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PyTorch, MPS-accelerated (Apple Silicon)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COCO-pretrained detector +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warehouse-object classification layer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3611880" cy="2331720"/>
          </a:xfrm>
          <a:prstGeom prst="roundRect">
            <a:avLst>
              <a:gd name="adj" fmla="val 5000"/>
            </a:avLst>
          </a:prstGeom>
          <a:solidFill>
            <a:srgbClr val="151922"/>
          </a:solidFill>
          <a:ln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B9BF5"/>
                </a:solidFill>
                <a:latin typeface="Calibri"/>
              </a:rPr>
              <a:t>LLM /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Optional OpenAI-compatible endpoint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Zero-dependency heuristic responder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by default — works fully offline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Grounded only in detected-event 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4114800"/>
            <a:ext cx="3611880" cy="2331720"/>
          </a:xfrm>
          <a:prstGeom prst="roundRect">
            <a:avLst>
              <a:gd name="adj" fmla="val 5000"/>
            </a:avLst>
          </a:prstGeom>
          <a:solidFill>
            <a:srgbClr val="151922"/>
          </a:solidFill>
          <a:ln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519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B9BF5"/>
                </a:solidFill>
                <a:latin typeface="Calibri"/>
              </a:rPr>
              <a:t>Front-end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6634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Streamlit dashboard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Video + HUD, kinematics charts,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risk panel, AI chat — 5 tabs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114800"/>
            <a:ext cx="3611880" cy="2331720"/>
          </a:xfrm>
          <a:prstGeom prst="roundRect">
            <a:avLst>
              <a:gd name="adj" fmla="val 5000"/>
            </a:avLst>
          </a:prstGeom>
          <a:solidFill>
            <a:srgbClr val="151922"/>
          </a:solidFill>
          <a:ln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2519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B9BF5"/>
                </a:solidFill>
                <a:latin typeface="Calibri"/>
              </a:rPr>
              <a:t>Data &amp; Edge/Cloud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6634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Structured JSON + CSV logs per shift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No database dependency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Behaviour/risk core has zero vision-stack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>
                <a:solidFill>
                  <a:srgbClr val="E8ECF2"/>
                </a:solidFill>
                <a:latin typeface="Calibri"/>
              </a:rPr>
              <a:t>•  dependency — runs fully on-device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B9BF5"/>
                </a:solidFill>
                <a:latin typeface="Calibri"/>
              </a:rPr>
              <a:t>LIVE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8ECF2"/>
                </a:solidFill>
                <a:latin typeface="Calibri"/>
              </a:rPr>
              <a:t>Prototype screenshots &amp;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3B2"/>
                </a:solidFill>
                <a:latin typeface="Calibri"/>
              </a:rPr>
              <a:t>Real footage, not staged: Throwing Mattresses.mp4, a genuine warehouse handling clip.</a:t>
            </a:r>
          </a:p>
        </p:txBody>
      </p:sp>
      <p:pic>
        <p:nvPicPr>
          <p:cNvPr id="6" name="Picture 5" descr="screenshot-1788969742251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3657600" cy="26750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47675" y="1682115"/>
            <a:ext cx="3676650" cy="2694095"/>
          </a:xfrm>
          <a:prstGeom prst="rect">
            <a:avLst/>
          </a:prstGeom>
          <a:noFill/>
          <a:ln w="12700"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39837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AA3B2"/>
                </a:solidFill>
                <a:latin typeface="Calibri"/>
              </a:rPr>
              <a:t>Detection + tracking overview — 65 tracks, 1615 detections</a:t>
            </a:r>
          </a:p>
        </p:txBody>
      </p:sp>
      <p:pic>
        <p:nvPicPr>
          <p:cNvPr id="9" name="Picture 8" descr="screenshot-1788969807433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148" y="1691640"/>
            <a:ext cx="3216663" cy="3246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08623" y="1682115"/>
            <a:ext cx="3235713" cy="3265170"/>
          </a:xfrm>
          <a:prstGeom prst="rect">
            <a:avLst/>
          </a:prstGeom>
          <a:noFill/>
          <a:ln w="12700"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501091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AA3B2"/>
                </a:solidFill>
                <a:latin typeface="Calibri"/>
              </a:rPr>
              <a:t>Risk event card: score, confidence, “why,” recommended action</a:t>
            </a:r>
          </a:p>
        </p:txBody>
      </p:sp>
      <p:pic>
        <p:nvPicPr>
          <p:cNvPr id="12" name="Picture 11" descr="screenshot-1788969855634-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3786" y="1691640"/>
            <a:ext cx="3366347" cy="3246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274261" y="1682115"/>
            <a:ext cx="3385397" cy="3265170"/>
          </a:xfrm>
          <a:prstGeom prst="rect">
            <a:avLst/>
          </a:prstGeom>
          <a:noFill/>
          <a:ln w="12700">
            <a:solidFill>
              <a:srgbClr val="2A3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501091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AA3B2"/>
                </a:solidFill>
                <a:latin typeface="Calibri"/>
              </a:rPr>
              <a:t>AI assistant — offline, grounded in detected events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A63E"/>
                </a:solidFill>
                <a:latin typeface="Calibri"/>
              </a:rPr>
              <a:t>Demo video (3-5 scenarios): see docs/demo_video_script.md — [embed / link recording here]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B9BF5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8ECF2"/>
                </a:solidFill>
                <a:latin typeface="Calibri"/>
              </a:rPr>
              <a:t>Damage prevention &amp; user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B9BF5"/>
                </a:solidFill>
                <a:latin typeface="Calibri"/>
              </a:rPr>
              <a:t>Reframed, per the brief: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CF2"/>
                </a:solidFill>
                <a:latin typeface="Calibri"/>
              </a:rPr>
              <a:t>“We identified 1 high-risk handling event across 7 real shift clips and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CF2"/>
                </a:solidFill>
                <a:latin typeface="Calibri"/>
              </a:rPr>
              <a:t>gave the supervisor a specific corrective action — before damage occurred.”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>
                <a:solidFill>
                  <a:srgbClr val="E8ECF2"/>
                </a:solidFill>
                <a:latin typeface="Calibri"/>
              </a:rPr>
              <a:t>•  1 real clip → confirmed High-risk event (rough handling, risk 58/100, 84% confidence), explainable + a recommended fix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>
                <a:solidFill>
                  <a:srgbClr val="E8ECF2"/>
                </a:solidFill>
                <a:latin typeface="Calibri"/>
              </a:rPr>
              <a:t>•  4 real clips → confident “no unsafe handling” — genuine clean reads, not silence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>
                <a:solidFill>
                  <a:srgbClr val="E8ECF2"/>
                </a:solidFill>
                <a:latin typeface="Calibri"/>
              </a:rPr>
              <a:t>•  3 real clips → honestly flagged as insufficient tracking data, not a false all-clear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>
                <a:solidFill>
                  <a:srgbClr val="E8ECF2"/>
                </a:solidFill>
                <a:latin typeface="Calibri"/>
              </a:rPr>
              <a:t>•  Simulated ground-truth demo → all 5 behaviour types detected end-to-end in under a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B9BF5"/>
                </a:solidFill>
                <a:latin typeface="Calibri"/>
              </a:rPr>
              <a:t>Suggested validation users: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2"/>
                </a:solidFill>
                <a:latin typeface="Calibri"/>
              </a:rPr>
              <a:t>Warehouse supervisor · Loading/unloading operator · Logistics manager · Safety professional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2"/>
                </a:solidFill>
                <a:latin typeface="Calibri"/>
              </a:rPr>
              <a:t>[Document what they observed and what changed — fill in after validation session.]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17320"/>
            <a:ext cx="5212080" cy="5029200"/>
          </a:xfrm>
          <a:prstGeom prst="roundRect">
            <a:avLst>
              <a:gd name="adj" fmla="val 4000"/>
            </a:avLst>
          </a:prstGeom>
          <a:solidFill>
            <a:srgbClr val="151922"/>
          </a:solidFill>
          <a:ln w="15875">
            <a:solidFill>
              <a:srgbClr val="4CC9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6002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CC98E"/>
                </a:solidFill>
                <a:latin typeface="Calibri"/>
              </a:rPr>
              <a:t>Responsible AI — built in, not bolted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>
                <a:solidFill>
                  <a:srgbClr val="E8ECF2"/>
                </a:solidFill>
                <a:latin typeface="Calibri"/>
              </a:rPr>
              <a:t>•  Distinguishes observed behaviour → potential risk → confirmed damage — never reports an empty event list as “all clear” when tracking was too thin to say so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>
                <a:solidFill>
                  <a:srgbClr val="E8ECF2"/>
                </a:solidFill>
                <a:latin typeface="Calibri"/>
              </a:rPr>
              <a:t>•  risk_score (severity) and priority_score (severity × confidence) kept separate — triage never collapses into one misleading number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>
                <a:solidFill>
                  <a:srgbClr val="E8ECF2"/>
                </a:solidFill>
                <a:latin typeface="Calibri"/>
              </a:rPr>
              <a:t>•  AI assistant answers only from detected-event data — instructed to never invent an event, track ID, or score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>
                <a:solidFill>
                  <a:srgbClr val="E8ECF2"/>
                </a:solidFill>
                <a:latin typeface="Calibri"/>
              </a:rPr>
              <a:t>•  Runs fully offline / on-device — footage never has to leave the building for inference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B9BF5"/>
                </a:solidFill>
                <a:latin typeface="Calibri"/>
              </a:rPr>
              <a:t>INNOVATION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8ECF2"/>
                </a:solidFill>
                <a:latin typeface="Calibri"/>
              </a:rPr>
              <a:t>What's built today,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CC98E"/>
                </a:solidFill>
                <a:latin typeface="Calibri"/>
              </a:rPr>
              <a:t>Already true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E8ECF2"/>
                </a:solidFill>
                <a:latin typeface="Calibri"/>
              </a:rPr>
              <a:t>•  Edge AI / offline inference — the core behaviour + risk engine has zero vision-stack dependency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E8ECF2"/>
                </a:solidFill>
                <a:latin typeface="Calibri"/>
              </a:rPr>
              <a:t>•  Explainable risk scoring — every event ships a “why” factor breakdown, not just a number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E8ECF2"/>
                </a:solidFill>
                <a:latin typeface="Calibri"/>
              </a:rPr>
              <a:t>•  Recommended actions pulled directly from this brief's own Good-Practice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A63E"/>
                </a:solidFill>
                <a:latin typeface="Calibri"/>
              </a:rPr>
              <a:t>Roadmap (honest about what's not built yet)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E8ECF2"/>
                </a:solidFill>
                <a:latin typeface="Calibri"/>
              </a:rPr>
              <a:t>•  Orientation classification (vertical-vs-horizontal product handling)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E8ECF2"/>
                </a:solidFill>
                <a:latin typeface="Calibri"/>
              </a:rPr>
              <a:t>•  Dock-level / floor-condition detection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E8ECF2"/>
                </a:solidFill>
                <a:latin typeface="Calibri"/>
              </a:rPr>
              <a:t>•  Warehouse-specific fine-tuned detector to replace the current COCO-proxy classification on real footage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>
                  <a:srgbClr val="E8ECF2"/>
                </a:solidFill>
                <a:latin typeface="Calibri"/>
              </a:rPr>
              <a:t>•  Multi-camera tracking, PPE compliance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